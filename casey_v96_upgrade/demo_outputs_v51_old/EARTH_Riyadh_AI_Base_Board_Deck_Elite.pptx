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Mission Control for Capital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AI Data Centre Campus has been classified as Digital Infrastructure / Hyperscale Data Centre in Saudi Arabia / GCC. CASEY estimates $10.7B P50 cost, $8.6B to $13.9B range, 64 month baseline, Medium risk and 64% confidence under the Base scenario.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Board Decision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AI Data Centre Campus | Base scenario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P50</a:t>
            </a:r>
          </a:p>
          <a:p>
            <a:r>
              <a:rPr sz="2000" b="1">
                <a:solidFill>
                  <a:srgbClr val="F7FBFF"/>
                </a:solidFill>
              </a:rPr>
              <a:t>$10.7B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82880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P80 Cost</a:t>
            </a:r>
          </a:p>
          <a:p>
            <a:r>
              <a:rPr sz="2000" b="1">
                <a:solidFill>
                  <a:srgbClr val="F7FBFF"/>
                </a:solidFill>
              </a:rPr>
              <a:t>$16.3B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80" y="182880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Schedule</a:t>
            </a:r>
          </a:p>
          <a:p>
            <a:r>
              <a:rPr sz="2000" b="1">
                <a:solidFill>
                  <a:srgbClr val="F7FBFF"/>
                </a:solidFill>
              </a:rPr>
              <a:t>64 months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6324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QSRA P80</a:t>
            </a:r>
          </a:p>
          <a:p>
            <a:r>
              <a:rPr sz="2000" b="1">
                <a:solidFill>
                  <a:srgbClr val="F7FBFF"/>
                </a:solidFill>
              </a:rPr>
              <a:t>77.61 mo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306324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Risk</a:t>
            </a:r>
          </a:p>
          <a:p>
            <a:r>
              <a:rPr sz="2000" b="1">
                <a:solidFill>
                  <a:srgbClr val="F7FBFF"/>
                </a:solidFill>
              </a:rPr>
              <a:t>Medium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306324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Confidence</a:t>
            </a:r>
          </a:p>
          <a:p>
            <a:r>
              <a:rPr sz="2000" b="1">
                <a:solidFill>
                  <a:srgbClr val="F7FBFF"/>
                </a:solidFill>
              </a:rPr>
              <a:t>64%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9768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Direct</a:t>
            </a:r>
          </a:p>
          <a:p>
            <a:r>
              <a:rPr sz="2000" b="1">
                <a:solidFill>
                  <a:srgbClr val="F7FBFF"/>
                </a:solidFill>
              </a:rPr>
              <a:t>$12.7B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429768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Indirect</a:t>
            </a:r>
          </a:p>
          <a:p>
            <a:r>
              <a:rPr sz="2000" b="1">
                <a:solidFill>
                  <a:srgbClr val="F7FBFF"/>
                </a:solidFill>
              </a:rPr>
              <a:t>$1.8B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4297680"/>
            <a:ext cx="3429000" cy="932688"/>
          </a:xfrm>
          <a:prstGeom prst="rect">
            <a:avLst/>
          </a:prstGeom>
          <a:solidFill>
            <a:srgbClr val="07111F"/>
          </a:solidFill>
          <a:ln>
            <a:solidFill>
              <a:srgbClr val="8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>
                <a:solidFill>
                  <a:srgbClr val="9FB3C8"/>
                </a:solidFill>
              </a:rPr>
              <a:t>Reserve</a:t>
            </a:r>
          </a:p>
          <a:p>
            <a:r>
              <a:rPr sz="2000" b="1">
                <a:solidFill>
                  <a:srgbClr val="F7FBFF"/>
                </a:solidFill>
              </a:rPr>
              <a:t>$965M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Scenario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What changed and why the outputs are not generic.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BFF"/>
                </a:solidFill>
              </a:rPr>
              <a:t>• Base selected: balanced control case for first-pass board challenge and option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BFF"/>
                </a:solidFill>
              </a:rPr>
              <a:t>• Controls consequence: use this as the reference model before switching to Faster, Cheaper, Lower Risk or Premium.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39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7FBFF"/>
                </a:solidFill>
              </a:rPr>
              <a:t>• Board decision: approve further definition work, not unconditional capital commitment.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QCRA + QSRA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Separate cost and schedule risk; no mixed generic tornado.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8DF7FF"/>
                </a:solidFill>
              </a:rPr>
              <a:t>QCRA COST TORNADO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Grid connection delay - $783M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Market escalation - $543M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Design maturity gap - $410M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Scope growth - $402M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Cooling system capacity - $358M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Supply chain delay - $341M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Productivity underperformance - $337M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94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8DF7FF"/>
                </a:solidFill>
              </a:rPr>
              <a:t>QSRA SCHEDULE TORNADO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Grid connection delay - 61.9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Permits / approvals delay - 31.3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Scope growth - 25.3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Design maturity gap - 23.1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Productivity underperformance - 22.9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Supply chain delay - 22.7 days</a:t>
            </a:r>
          </a:p>
          <a:p>
            <a:pPr>
              <a:defRPr sz="1200">
                <a:solidFill>
                  <a:srgbClr val="F7FBFF"/>
                </a:solidFill>
              </a:defRPr>
            </a:pPr>
            <a:r>
              <a:t>Cooling system capacity - 22.5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Board Top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Cause - Event - Impact - Mitigation.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11556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00">
                <a:solidFill>
                  <a:srgbClr val="F7FBFF"/>
                </a:solidFill>
              </a:defRPr>
            </a:pPr>
            <a:r>
              <a:t>R-D01 Grid connection delay: Critical path delay, temporary power cost, phased opening risk and revenue deferral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R-002 Market escalation: P50 cost becomes understated; commercial approvals or procurement strategy may need reset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R-004 Design maturity gap: Cost growth, quantity movement, rework and schedule resequencing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R-001 Scope growth: Additional quantities, redesign, rework, procurement churn and board contingency drawdown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R-D02 Cooling system capacity: Re-design, commissioning delay, lower IT load and resilience concern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R-006 Productivity underperformance: Extended duration, increased preliminaries and loss of float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R-005 Supply chain delay: Delayed installation, critical path movement and acceleration cost</a:t>
            </a:r>
          </a:p>
          <a:p>
            <a:pPr>
              <a:defRPr sz="1100">
                <a:solidFill>
                  <a:srgbClr val="F7FBFF"/>
                </a:solidFill>
              </a:defRPr>
            </a:pPr>
            <a:r>
              <a:t>R-008 Interface misalignment: Rework, claims, delay and fragmented accountability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DF7FF"/>
                </a:solidFill>
              </a:rPr>
              <a:t>CASEY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7FBFF"/>
                </a:solidFill>
              </a:rPr>
              <a:t>Output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41732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BECD"/>
                </a:solidFill>
              </a:rPr>
              <a:t>Excel cost model, risk register workbook, XER schedule, DOCX/PDF board report, PPTX board deck and JSON audit model generated from one connected CASEY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Selected class cost estimate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50592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Direct / indirect / reserve cost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80944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Risk register with cause, event, impact and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11296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Separate QCRA and QSRA curves/tornado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Scenario-linked values for Base / Faster / Cheaper / Lower Risk /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DF7FF"/>
                </a:solidFill>
              </a:rPr>
              <a:t>✓ Pricing and email conversion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