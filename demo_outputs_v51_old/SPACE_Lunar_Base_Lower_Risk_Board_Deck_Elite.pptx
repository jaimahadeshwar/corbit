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Mission Control for Capital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Space Base has been classified as Surface Habitat/Base in Moon / Lunar Surface. CASEY estimates $198.0B P50 cost, $158.4B to $257.4B range, 246 month baseline, High risk and 65% confidence under the Lower Risk scenario.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Board Decision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Space Base | Lower Risk 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P50</a:t>
            </a:r>
          </a:p>
          <a:p>
            <a:r>
              <a:rPr sz="2000" b="1">
                <a:solidFill>
                  <a:srgbClr val="F7FBFF"/>
                </a:solidFill>
              </a:rPr>
              <a:t>$198.0B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82880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P80 Cost</a:t>
            </a:r>
          </a:p>
          <a:p>
            <a:r>
              <a:rPr sz="2000" b="1">
                <a:solidFill>
                  <a:srgbClr val="F7FBFF"/>
                </a:solidFill>
              </a:rPr>
              <a:t>$274.1B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80" y="182880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Schedule</a:t>
            </a:r>
          </a:p>
          <a:p>
            <a:r>
              <a:rPr sz="2000" b="1">
                <a:solidFill>
                  <a:srgbClr val="F7FBFF"/>
                </a:solidFill>
              </a:rPr>
              <a:t>246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6324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QSRA P80</a:t>
            </a:r>
          </a:p>
          <a:p>
            <a:r>
              <a:rPr sz="2000" b="1">
                <a:solidFill>
                  <a:srgbClr val="F7FBFF"/>
                </a:solidFill>
              </a:rPr>
              <a:t>267.0 mo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06324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Risk</a:t>
            </a:r>
          </a:p>
          <a:p>
            <a:r>
              <a:rPr sz="2000" b="1">
                <a:solidFill>
                  <a:srgbClr val="F7FBFF"/>
                </a:solidFill>
              </a:rPr>
              <a:t>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306324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Confidence</a:t>
            </a:r>
          </a:p>
          <a:p>
            <a:r>
              <a:rPr sz="2000" b="1">
                <a:solidFill>
                  <a:srgbClr val="F7FBFF"/>
                </a:solidFill>
              </a:rPr>
              <a:t>65%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9768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Direct</a:t>
            </a:r>
          </a:p>
          <a:p>
            <a:r>
              <a:rPr sz="2000" b="1">
                <a:solidFill>
                  <a:srgbClr val="F7FBFF"/>
                </a:solidFill>
              </a:rPr>
              <a:t>$154.4B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29768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Indirect</a:t>
            </a:r>
          </a:p>
          <a:p>
            <a:r>
              <a:rPr sz="2000" b="1">
                <a:solidFill>
                  <a:srgbClr val="F7FBFF"/>
                </a:solidFill>
              </a:rPr>
              <a:t>$29.7B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429768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Reserve</a:t>
            </a:r>
          </a:p>
          <a:p>
            <a:r>
              <a:rPr sz="2000" b="1">
                <a:solidFill>
                  <a:srgbClr val="F7FBFF"/>
                </a:solidFill>
              </a:rPr>
              <a:t>$23.8B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Scenario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What changed and why the outputs are not generic.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7FBFF"/>
                </a:solidFill>
              </a:rPr>
              <a:t>• Lower-risk selected: more assurance, surveys, float and contingency raise headline cost but improve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7FBFF"/>
                </a:solidFill>
              </a:rPr>
              <a:t>• Controls consequence: stronger evidence should move risk from unknown unknowns into quantified known unknowns.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39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7FBFF"/>
                </a:solidFill>
              </a:rPr>
              <a:t>• Board decision: approve with a confidence-improvement plan and gate evidence pack.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QCRA + QSRA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Separate cost and schedule risk; no mixed generic tornado.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8DF7FF"/>
                </a:solidFill>
              </a:rPr>
              <a:t>QCRA COST TORNADO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Life-support reliability - $7.3B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Mass growth - $7.0B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Launch manifest delay - $7.0B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Market escalation - $5.4B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Scope growth - $4.2B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Design maturity gap - $4.1B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Productivity underperformance - $3.6B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8DF7FF"/>
                </a:solidFill>
              </a:rPr>
              <a:t>QSRA SCHEDULE TORNADO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Launch manifest delay - 24.6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Life-support reliability - 23.5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Permits / approvals delay - 17.2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Mass growth - 17.1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Scope growth - 14.2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Productivity underperformance - 13.2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Design maturity gap - 12.9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Board Top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Cause - Event - Impact - Mitigation.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11556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F7FBFF"/>
                </a:solidFill>
              </a:defRPr>
            </a:pPr>
            <a:r>
              <a:t>R-S01 Launch manifest delay: Programme delay, storage cost, resequencing and mission-readiness risk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R-S03 Life-support reliability: Crew safety exposure, launch delay, redesign and mission abort risk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R-S02 Mass growth: Launch cost, redesign, performance loss and mission safety exposure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R-002 Market escalation: P50 cost becomes understated; commercial approvals or procurement strategy may need reset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R-004 Design maturity gap: Cost growth, quantity movement, rework and schedule resequencing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R-001 Scope growth: Additional quantities, redesign, rework, procurement churn and board contingency drawdown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R-006 Productivity underperformance: Extended duration, increased preliminaries and loss of float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R-005 Supply chain delay: Delayed installation, critical path movement and acceleration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Output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Excel cost model, risk register workbook, XER schedule, DOCX/PDF board report, PPTX board deck and JSON audit model generated from one connected CASEY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Selected class cost estimate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50592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Direct / indirect / reserve cost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80944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Risk register with cause, event, impact and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11296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Separate QCRA and QSRA curves/tornado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41648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Scenario-linked values for Base / Faster / Cheaper / Lower Risk /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Pricing and email conversion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