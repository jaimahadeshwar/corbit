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DF7FF"/>
                </a:solidFill>
              </a:rPr>
              <a:t>CASEY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7FBFF"/>
                </a:solidFill>
              </a:rPr>
              <a:t>Mission Control for Capital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17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ECD"/>
                </a:solidFill>
              </a:rPr>
              <a:t>Airport Infrastructure has been classified as Airport / Aviation in Global / Not specified. CASEY estimates $11.5B P50 cost, $9.2B to $14.9B range, 85 month baseline, Medium risk and 59% confidence under the Faster scenario.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DF7FF"/>
                </a:solidFill>
              </a:rPr>
              <a:t>CASEY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7FBFF"/>
                </a:solidFill>
              </a:rPr>
              <a:t>Board Decision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17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ECD"/>
                </a:solidFill>
              </a:rPr>
              <a:t>Airport Infrastructure | Faster scenario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P50</a:t>
            </a:r>
          </a:p>
          <a:p>
            <a:r>
              <a:rPr sz="2000" b="1">
                <a:solidFill>
                  <a:srgbClr val="F7FBFF"/>
                </a:solidFill>
              </a:rPr>
              <a:t>$11.5B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82880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P80 Cost</a:t>
            </a:r>
          </a:p>
          <a:p>
            <a:r>
              <a:rPr sz="2000" b="1">
                <a:solidFill>
                  <a:srgbClr val="F7FBFF"/>
                </a:solidFill>
              </a:rPr>
              <a:t>$17.9B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80" y="182880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Schedule</a:t>
            </a:r>
          </a:p>
          <a:p>
            <a:r>
              <a:rPr sz="2000" b="1">
                <a:solidFill>
                  <a:srgbClr val="F7FBFF"/>
                </a:solidFill>
              </a:rPr>
              <a:t>85 months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6324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QSRA P80</a:t>
            </a:r>
          </a:p>
          <a:p>
            <a:r>
              <a:rPr sz="2000" b="1">
                <a:solidFill>
                  <a:srgbClr val="F7FBFF"/>
                </a:solidFill>
              </a:rPr>
              <a:t>102.19 mo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306324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Risk</a:t>
            </a:r>
          </a:p>
          <a:p>
            <a:r>
              <a:rPr sz="2000" b="1">
                <a:solidFill>
                  <a:srgbClr val="F7FBFF"/>
                </a:solidFill>
              </a:rPr>
              <a:t>Medium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80" y="306324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Confidence</a:t>
            </a:r>
          </a:p>
          <a:p>
            <a:r>
              <a:rPr sz="2000" b="1">
                <a:solidFill>
                  <a:srgbClr val="F7FBFF"/>
                </a:solidFill>
              </a:rPr>
              <a:t>59%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29768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Direct</a:t>
            </a:r>
          </a:p>
          <a:p>
            <a:r>
              <a:rPr sz="2000" b="1">
                <a:solidFill>
                  <a:srgbClr val="F7FBFF"/>
                </a:solidFill>
              </a:rPr>
              <a:t>$11.6B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429768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Indirect</a:t>
            </a:r>
          </a:p>
          <a:p>
            <a:r>
              <a:rPr sz="2000" b="1">
                <a:solidFill>
                  <a:srgbClr val="F7FBFF"/>
                </a:solidFill>
              </a:rPr>
              <a:t>$2.0B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0" y="429768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Reserve</a:t>
            </a:r>
          </a:p>
          <a:p>
            <a:r>
              <a:rPr sz="2000" b="1">
                <a:solidFill>
                  <a:srgbClr val="F7FBFF"/>
                </a:solidFill>
              </a:rPr>
              <a:t>$1.0B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DF7FF"/>
                </a:solidFill>
              </a:rPr>
              <a:t>CASEY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7FBFF"/>
                </a:solidFill>
              </a:rPr>
              <a:t>Scenario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17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ECD"/>
                </a:solidFill>
              </a:rPr>
              <a:t>What changed and why the outputs are not generic.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7FBFF"/>
                </a:solidFill>
              </a:rPr>
              <a:t>• Acceleration selected: schedule compression is funded through logistics premium, parallel procurement and higher delivery intensity.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0972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7FBFF"/>
                </a:solidFill>
              </a:rPr>
              <a:t>• Controls consequence: QSRA risk should be watched closely because interface density and commissioning pressure rise.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39"/>
            <a:ext cx="10972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7FBFF"/>
                </a:solidFill>
              </a:rPr>
              <a:t>• Board decision: approve acceleration only with package-level recovery plan and explicit acceleration cost allowance.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DF7FF"/>
                </a:solidFill>
              </a:rPr>
              <a:t>CASEY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7FBFF"/>
                </a:solidFill>
              </a:rPr>
              <a:t>QCRA + QSRA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17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ECD"/>
                </a:solidFill>
              </a:rPr>
              <a:t>Separate cost and schedule risk; no mixed generic tornado.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5394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8DF7FF"/>
                </a:solidFill>
              </a:rPr>
              <a:t>QCRA COST TORNADO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Market escalation - $735M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Operational phasing disruption - $567M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Scope growth - $541M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Design maturity gap - $532M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Supply chain delay - $463M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Productivity underperformance - $453M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Baggage / security systems integration - $396M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394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8DF7FF"/>
                </a:solidFill>
              </a:rPr>
              <a:t>QSRA SCHEDULE TORNADO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Operational phasing disruption - 50.9 days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Permits / approvals delay - 45.4 days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Scope growth - 37.0 days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Supply chain delay - 33.5 days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Productivity underperformance - 33.2 days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Design maturity gap - 32.4 days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Baggage / security systems integration - 30.8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DF7FF"/>
                </a:solidFill>
              </a:rPr>
              <a:t>CASEY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7FBFF"/>
                </a:solidFill>
              </a:rPr>
              <a:t>Board Top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17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ECD"/>
                </a:solidFill>
              </a:rPr>
              <a:t>Cause - Event - Impact - Mitigation.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111556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F7FBFF"/>
                </a:solidFill>
              </a:defRPr>
            </a:pPr>
            <a:r>
              <a:t>R-002 Market escalation: P50 cost becomes understated; commercial approvals or procurement strategy may need reset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R-A01 Operational phasing disruption: Delay, night-work premiums, stakeholder disruption and ORAT pressure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R-001 Scope growth: Additional quantities, redesign, rework, procurement churn and board contingency drawdown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R-004 Design maturity gap: Cost growth, quantity movement, rework and schedule resequencing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R-006 Productivity underperformance: Extended duration, increased preliminaries and loss of float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R-005 Supply chain delay: Delayed installation, critical path movement and acceleration cost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R-A02 Baggage / security systems integration: Commissioning delay, passenger disruption and late operational readiness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R-008 Interface misalignment: Rework, claims, delay and fragmented accountability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DF7FF"/>
                </a:solidFill>
              </a:rPr>
              <a:t>CASEY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7FBFF"/>
                </a:solidFill>
              </a:rPr>
              <a:t>Output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17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ECD"/>
                </a:solidFill>
              </a:rPr>
              <a:t>Excel cost model, risk register workbook, XER schedule, DOCX/PDF board report, PPTX board deck and JSON audit model generated from one connected CASEY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DF7FF"/>
                </a:solidFill>
              </a:rPr>
              <a:t>✓ Selected class cost estimate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50592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DF7FF"/>
                </a:solidFill>
              </a:rPr>
              <a:t>✓ Direct / indirect / reserve cost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80944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DF7FF"/>
                </a:solidFill>
              </a:rPr>
              <a:t>✓ Risk register with cause, event, impact and mitigation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11296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DF7FF"/>
                </a:solidFill>
              </a:rPr>
              <a:t>✓ Separate QCRA and QSRA curves/tornado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41648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DF7FF"/>
                </a:solidFill>
              </a:rPr>
              <a:t>✓ Scenario-linked values for Base / Faster / Cheaper / Lower Risk /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DF7FF"/>
                </a:solidFill>
              </a:rPr>
              <a:t>✓ Pricing and email conversion 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