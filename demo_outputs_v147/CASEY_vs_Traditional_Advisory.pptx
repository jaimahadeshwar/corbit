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last 3 minutes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have taken your advisory team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weeks and £250,000–£850,000.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is not a product pitch. It is a cost reality check.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TITAN X  //  CAPITAL PROJECT INTELLIGENCE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just produced all of this.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project brief. In under 3 minutes.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88036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115568"/>
            <a:ext cx="2807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115568"/>
            <a:ext cx="214884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1115568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advisory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06440" y="1115568"/>
            <a:ext cx="141732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9592" y="1115568"/>
            <a:ext cx="1344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0" y="1115568"/>
            <a:ext cx="1691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1115568"/>
            <a:ext cx="1618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463040"/>
            <a:ext cx="2880360" cy="420624"/>
          </a:xfrm>
          <a:prstGeom prst="rect">
            <a:avLst/>
          </a:prstGeom>
          <a:solidFill>
            <a:srgbClr val="0D1525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48132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3–5 cost estimate (AACE)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/ P50 / P90 by CBS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463040"/>
            <a:ext cx="2148840" cy="420624"/>
          </a:xfrm>
          <a:prstGeom prst="rect">
            <a:avLst/>
          </a:prstGeom>
          <a:solidFill>
            <a:srgbClr val="0D1525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148132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surveyors + cost engineers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person team, 3–6 weeks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1463040"/>
            <a:ext cx="1417320" cy="420624"/>
          </a:xfrm>
          <a:prstGeom prst="rect">
            <a:avLst/>
          </a:prstGeom>
          <a:solidFill>
            <a:srgbClr val="0D1525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148132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£80k–£180k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0" y="1463040"/>
            <a:ext cx="1691640" cy="420624"/>
          </a:xfrm>
          <a:prstGeom prst="rect">
            <a:avLst/>
          </a:prstGeom>
          <a:solidFill>
            <a:srgbClr val="0D2A1A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148132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1883664"/>
            <a:ext cx="2880360" cy="420624"/>
          </a:xfrm>
          <a:prstGeom prst="rect">
            <a:avLst/>
          </a:prstGeom>
          <a:solidFill>
            <a:srgbClr val="0A0F1E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190195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QCRA Monte Carlo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P-curve + tornado drivers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1883664"/>
            <a:ext cx="2148840" cy="420624"/>
          </a:xfrm>
          <a:prstGeom prst="rect">
            <a:avLst/>
          </a:prstGeom>
          <a:solidFill>
            <a:srgbClr val="0A0F1E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190195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team + cost modelling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 specialist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06440" y="1883664"/>
            <a:ext cx="1417320" cy="420624"/>
          </a:xfrm>
          <a:prstGeom prst="rect">
            <a:avLst/>
          </a:prstGeom>
          <a:solidFill>
            <a:srgbClr val="0A0F1E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190195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£40k–£90k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0" y="1883664"/>
            <a:ext cx="1691640" cy="420624"/>
          </a:xfrm>
          <a:prstGeom prst="rect">
            <a:avLst/>
          </a:prstGeom>
          <a:solidFill>
            <a:srgbClr val="0A2218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19019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2304288"/>
            <a:ext cx="2880360" cy="420624"/>
          </a:xfrm>
          <a:prstGeom prst="rect">
            <a:avLst/>
          </a:prstGeom>
          <a:solidFill>
            <a:srgbClr val="0D1525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232257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QSRA Monte Carlo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P-curve + schedule risk drivers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2304288"/>
            <a:ext cx="2148840" cy="420624"/>
          </a:xfrm>
          <a:prstGeom prst="rect">
            <a:avLst/>
          </a:prstGeom>
          <a:solidFill>
            <a:srgbClr val="0D1525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232257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+ risk team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06440" y="2304288"/>
            <a:ext cx="1417320" cy="420624"/>
          </a:xfrm>
          <a:prstGeom prst="rect">
            <a:avLst/>
          </a:prstGeom>
          <a:solidFill>
            <a:srgbClr val="0D1525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9592" y="232257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£30k–£70k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0" y="2304288"/>
            <a:ext cx="1691640" cy="420624"/>
          </a:xfrm>
          <a:prstGeom prst="rect">
            <a:avLst/>
          </a:prstGeom>
          <a:solidFill>
            <a:srgbClr val="0D2A1A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88352" y="2322576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2724912"/>
            <a:ext cx="2880360" cy="420624"/>
          </a:xfrm>
          <a:prstGeom prst="rect">
            <a:avLst/>
          </a:prstGeom>
          <a:solidFill>
            <a:srgbClr val="0A0F1E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27432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WBS activity + CBS cost account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74720" y="2724912"/>
            <a:ext cx="2148840" cy="420624"/>
          </a:xfrm>
          <a:prstGeom prst="rect">
            <a:avLst/>
          </a:prstGeom>
          <a:solidFill>
            <a:srgbClr val="0A0F1E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47872" y="27432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workshops + facilitation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 workshop + write-up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06440" y="2724912"/>
            <a:ext cx="1417320" cy="420624"/>
          </a:xfrm>
          <a:prstGeom prst="rect">
            <a:avLst/>
          </a:prstGeom>
          <a:solidFill>
            <a:srgbClr val="0A0F1E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9592" y="27432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£25k–£60k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15200" y="2724912"/>
            <a:ext cx="1691640" cy="420624"/>
          </a:xfrm>
          <a:prstGeom prst="rect">
            <a:avLst/>
          </a:prstGeom>
          <a:solidFill>
            <a:srgbClr val="0A2218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27432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" y="3145536"/>
            <a:ext cx="2880360" cy="420624"/>
          </a:xfrm>
          <a:prstGeom prst="rect">
            <a:avLst/>
          </a:prstGeom>
          <a:solidFill>
            <a:srgbClr val="0D1525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316382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1–5 schedule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P6-compatible XER export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74720" y="3145536"/>
            <a:ext cx="2148840" cy="420624"/>
          </a:xfrm>
          <a:prstGeom prst="rect">
            <a:avLst/>
          </a:prstGeom>
          <a:solidFill>
            <a:srgbClr val="0D1525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47872" y="316382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planner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806440" y="3145536"/>
            <a:ext cx="1417320" cy="420624"/>
          </a:xfrm>
          <a:prstGeom prst="rect">
            <a:avLst/>
          </a:prstGeom>
          <a:solidFill>
            <a:srgbClr val="0D1525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79592" y="316382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£20k–£50k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15200" y="3145536"/>
            <a:ext cx="1691640" cy="420624"/>
          </a:xfrm>
          <a:prstGeom prst="rect">
            <a:avLst/>
          </a:prstGeom>
          <a:solidFill>
            <a:srgbClr val="0D2A1A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88352" y="316382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" y="3566160"/>
            <a:ext cx="2880360" cy="420624"/>
          </a:xfrm>
          <a:prstGeom prst="rect">
            <a:avLst/>
          </a:prstGeom>
          <a:solidFill>
            <a:srgbClr val="0A0F1E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" y="358444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5-scenario analysis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/ Faster / Cheaper / Lower Risk…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0" y="3566160"/>
            <a:ext cx="2148840" cy="420624"/>
          </a:xfrm>
          <a:prstGeom prst="rect">
            <a:avLst/>
          </a:prstGeom>
          <a:solidFill>
            <a:srgbClr val="0A0F1E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47872" y="358444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consultant team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weeks iteration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06440" y="3566160"/>
            <a:ext cx="1417320" cy="420624"/>
          </a:xfrm>
          <a:prstGeom prst="rect">
            <a:avLst/>
          </a:prstGeom>
          <a:solidFill>
            <a:srgbClr val="0A0F1E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9592" y="358444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£30k–£80k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15200" y="3566160"/>
            <a:ext cx="1691640" cy="420624"/>
          </a:xfrm>
          <a:prstGeom prst="rect">
            <a:avLst/>
          </a:prstGeom>
          <a:solidFill>
            <a:srgbClr val="0A2218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88352" y="35844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" y="3986784"/>
            <a:ext cx="2880360" cy="420624"/>
          </a:xfrm>
          <a:prstGeom prst="rect">
            <a:avLst/>
          </a:prstGeom>
          <a:solidFill>
            <a:srgbClr val="0D1525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072" y="400507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&amp; benchmark intelligence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Operator-grade, not survey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474720" y="3986784"/>
            <a:ext cx="2148840" cy="420624"/>
          </a:xfrm>
          <a:prstGeom prst="rect">
            <a:avLst/>
          </a:prstGeom>
          <a:solidFill>
            <a:srgbClr val="0D1525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47872" y="40050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 + database access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806440" y="3986784"/>
            <a:ext cx="1417320" cy="420624"/>
          </a:xfrm>
          <a:prstGeom prst="rect">
            <a:avLst/>
          </a:prstGeom>
          <a:solidFill>
            <a:srgbClr val="0D1525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79592" y="400507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£20k–£60k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315200" y="3986784"/>
            <a:ext cx="1691640" cy="420624"/>
          </a:xfrm>
          <a:prstGeom prst="rect">
            <a:avLst/>
          </a:prstGeom>
          <a:solidFill>
            <a:srgbClr val="0D2A1A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88352" y="4005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02920" y="4407408"/>
            <a:ext cx="2880360" cy="420624"/>
          </a:xfrm>
          <a:prstGeom prst="rect">
            <a:avLst/>
          </a:prstGeom>
          <a:solidFill>
            <a:srgbClr val="0A0F1E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6072" y="442569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Board-grade exports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· DOCX · PDF · PPTX · JSON · ZIP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474720" y="4407408"/>
            <a:ext cx="2148840" cy="420624"/>
          </a:xfrm>
          <a:prstGeom prst="rect">
            <a:avLst/>
          </a:prstGeom>
          <a:solidFill>
            <a:srgbClr val="0A0F1E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47872" y="442569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production + QA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806440" y="4407408"/>
            <a:ext cx="1417320" cy="420624"/>
          </a:xfrm>
          <a:prstGeom prst="rect">
            <a:avLst/>
          </a:prstGeom>
          <a:solidFill>
            <a:srgbClr val="0A0F1E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79592" y="442569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£15k–£40k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315200" y="4407408"/>
            <a:ext cx="1691640" cy="420624"/>
          </a:xfrm>
          <a:prstGeom prst="rect">
            <a:avLst/>
          </a:prstGeom>
          <a:solidFill>
            <a:srgbClr val="0A2218"/>
          </a:solidFill>
          <a:ln w="6350">
            <a:solidFill>
              <a:srgbClr val="1E2D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88352" y="4425696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3749040" cy="43434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594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£250k – £850k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10 weeks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8–14 consultants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workshop → data room → draft → review → board pack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change after every workshop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scenario testing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457200"/>
            <a:ext cx="3749040" cy="4343400"/>
          </a:xfrm>
          <a:prstGeom prst="rect">
            <a:avLst/>
          </a:prstGeom>
          <a:solidFill>
            <a:srgbClr val="0A221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594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TITAN 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0058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 marginal cost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29200" y="2606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minutes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0" y="32004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project brief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1–5 estimates · QCRA/QSRA · risk register · scenarios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scenario switching, P-curves update instantly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Board-grade exports in all formats, immediately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market.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2618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4864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686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896112"/>
            <a:ext cx="7269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first-pass study is being commoditised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298448"/>
            <a:ext cx="7269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cost, schedule, and risk advisory — the entry point of most major capital project mandates — is the work CASEY does in minutes. Clients no longer need to commission a 6-week study to get a boardroom-ready baseline. They arrive at the first advisory meeting with one already.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8229600" cy="12618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12848"/>
            <a:ext cx="54864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58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286000"/>
            <a:ext cx="7269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question shifts upstream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688336"/>
            <a:ext cx="7269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baseline is instant and traceable, clients will ask harder questions: what do you know that CASEY doesn't? Relationships, site intelligence, supply chain access, stakeholder negotiation, regulatory navigation — that's where differentiated advisory value now lives.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8229600" cy="12618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02736"/>
            <a:ext cx="54864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4845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675888"/>
            <a:ext cx="7269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is not your competitor — it is your client's new baseline expectation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078224"/>
            <a:ext cx="7269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and developers will run CASEY before they call you. The teams that win will be the ones who treat that baseline as a starting point, not a threat — and who use it to accelerate their own analysis rather than rebuild from scratch.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8229600" cy="224028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320040"/>
            <a:ext cx="64008" cy="2240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777240"/>
            <a:ext cx="7635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replacing expert judgement.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replacing the slow first-pass study, the blank spreadsheet,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painful wait for a board-ready view.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gives teams a traceable starting point immediately —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improves as real project data is added.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2606040" cy="1600200"/>
          </a:xfrm>
          <a:prstGeom prst="rect">
            <a:avLst/>
          </a:prstGeom>
          <a:solidFill>
            <a:srgbClr val="1A25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880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brief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board pack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788920"/>
            <a:ext cx="2606040" cy="1600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880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formats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3566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· DOCX · 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· XER · JSON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788920"/>
            <a:ext cx="2606040" cy="1600200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2880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scenarios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3566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Faster · Cheaper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 · Premium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5537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for your project  →  casey.ai  //  request a sample pack  //  book a 20-minute demo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CASEY vs Traditional Advisory</dc:title>
  <dc:subject>PptxGenJS Presentation</dc:subject>
  <dc:creator>PptxGenJS</dc:creator>
  <cp:lastModifiedBy>PptxGenJS</cp:lastModifiedBy>
  <cp:revision>1</cp:revision>
  <dcterms:created xsi:type="dcterms:W3CDTF">2026-05-24T17:24:30Z</dcterms:created>
  <dcterms:modified xsi:type="dcterms:W3CDTF">2026-05-24T17:24:30Z</dcterms:modified>
</cp:coreProperties>
</file>